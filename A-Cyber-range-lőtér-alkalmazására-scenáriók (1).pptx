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FFFCB5-1A3D-30E1-F926-547E43459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34304FB-0CE5-FAE0-1F30-0D98E88BA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8EA8F67-3B71-3874-522A-16A2FAFD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59DFA68-DE6C-17B4-F588-4084079B3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1A004A-E3E3-053A-0612-660ED9F0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223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8DDAF9-AF42-5F0A-80D3-3E370FE4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C1C271-7AC6-AE93-23FD-780249417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FB528B6-E353-9B7F-AC22-AF8B66495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6DBB5DE-CFC5-0DC9-957C-C122B8E9A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E37498A-10F8-C13D-EF6C-E782DF16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308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8F12A0-BEE4-CBCD-596A-850BBB08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B6D61F9-D682-3B63-F96A-6E31023FE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C1C7258-0102-66C0-20BD-A2E640DD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0DBD80B-2FE9-9875-7B25-5C60B4D5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7B07084-CDDB-86CF-1EB6-7D5586A3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5989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D65199-C51E-EB81-348F-0DA7C2EF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742B2F-320D-0CDB-6F51-7168C570E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BA0BC6-1AC3-28C0-A875-AEA7E117F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E1B0819-50DB-1349-F892-F271124E1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78B59BA-4F37-324B-8FC3-9AA554442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36293DC-9D25-05DB-39B3-E1B41E2C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917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9629BD-76A4-7A84-2DF1-9E99B49DA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9A7C0BC-5875-E5E8-B24D-8E18E3850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79A1F27-FB4C-24F2-0C28-7079B6EB6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D580F14-3AA0-29D9-41AE-0D879219E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4842D22-2FA5-68D3-DAE3-97B5078D2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9307794-A8D8-81E5-CBAB-D55F432E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174A0F1-FE33-0D95-5A34-466E54CC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B8FE8EC-E4EE-4436-76ED-25F0DA90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0718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2EB62D-FD4B-E8B9-D042-29CB829B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FF3C687-D1D0-B193-3F13-F103CB017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E72B23E-1202-66B3-EDEE-4CF76857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A0F8F9E-6DB0-C119-962E-9E878B10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2830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B734169-489A-9285-98C5-7C34EA61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742C9D3C-F552-FB27-3FBC-5F15F2BD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FEBE708-35A1-0884-D8CC-56166D0FE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29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A45F81-D2BB-5055-FD2C-FB6FE530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367979-3F62-1AFB-38B8-1E182510D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C67899A-375C-7B91-E442-5FBB70C9E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84538CC-BF8E-A891-675E-95B5A1DC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396AFFA-B46F-FBCF-9A5E-50A83C91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6C49BB2-B021-0971-7D58-D7481300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1445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CFA2F9-8E47-7330-F96A-4B18753C4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FBA16AB-B4EE-8303-1B49-4A836DA4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5DAF5C6-C797-16BE-C80E-50FD8A1FC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6BD7ACF-1078-C4A7-8840-8462C906F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CAC88E9-9FE5-A2BE-D60C-CB582EB0A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A76FC34-C4E8-DF1C-8636-2AC6F2D1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422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285611-F8A0-900D-A478-FAED3A991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E1E0062-BA68-43B2-67CD-2C689CA2F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EA9FAE-EEEB-770A-4527-F76BCCB5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E96A7BA-71BD-15CF-A8BF-A340DDAE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526A71D-80DC-5211-CC4E-0E44C717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193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D305196-05A0-73A1-F018-88FB04E96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0111565-60B4-6648-CBFB-B48F42AFF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7038EB7-AF37-7070-6B59-BBAA5349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BFD6259-A0EB-918D-9355-76CF403E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EB148E9-A462-B578-694B-CB6FF0028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498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F647C6F0-4253-DFB1-10C6-7D398E41F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C4A962A-BE68-AE87-0C25-5F10CDF51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0FC10B6-B360-A7F9-B4E9-0D1A60F86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6449A07-459D-27DA-31EF-EB3BBE9D5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11254A4-77AB-F3BA-6546-A0AD2FDC8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609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Security Operations Center Images – Browse 90,668 Stock Photos, Vectors,  and Video | Adobe Stock">
            <a:extLst>
              <a:ext uri="{FF2B5EF4-FFF2-40B4-BE49-F238E27FC236}">
                <a16:creationId xmlns:a16="http://schemas.microsoft.com/office/drawing/2014/main" id="{2F41887C-C4DF-4B49-2C31-DAA05FB9E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878B5F0E-2C9B-CF84-C6A3-ED837314E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A </a:t>
            </a:r>
            <a:r>
              <a:rPr lang="hu-HU" dirty="0" err="1">
                <a:solidFill>
                  <a:srgbClr val="FFFFFF"/>
                </a:solidFill>
              </a:rPr>
              <a:t>Cyber</a:t>
            </a:r>
            <a:r>
              <a:rPr lang="hu-HU" dirty="0">
                <a:solidFill>
                  <a:srgbClr val="FFFFFF"/>
                </a:solidFill>
              </a:rPr>
              <a:t> </a:t>
            </a:r>
            <a:r>
              <a:rPr lang="hu-HU" dirty="0" err="1">
                <a:solidFill>
                  <a:srgbClr val="FFFFFF"/>
                </a:solidFill>
              </a:rPr>
              <a:t>range</a:t>
            </a:r>
            <a:r>
              <a:rPr lang="hu-HU" dirty="0">
                <a:solidFill>
                  <a:srgbClr val="FFFFFF"/>
                </a:solidFill>
              </a:rPr>
              <a:t> lőtér alkalmazásának </a:t>
            </a:r>
            <a:r>
              <a:rPr lang="hu-HU" dirty="0" err="1">
                <a:solidFill>
                  <a:srgbClr val="FFFFFF"/>
                </a:solidFill>
              </a:rPr>
              <a:t>scenáriói</a:t>
            </a:r>
            <a:r>
              <a:rPr lang="hu-HU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C310C6B-EF28-6269-352F-FBB1BE0C0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hu-HU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742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DC718F4-9B7B-5204-2080-D17C7964C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hu-HU" sz="2800">
                <a:solidFill>
                  <a:schemeClr val="bg1"/>
                </a:solidFill>
              </a:rPr>
              <a:t>Cyber Range: A modern kiberbiztonsági oktatás alapja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B24D26-BA19-ADDE-8941-F7AB259EF7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46399"/>
            <a:ext cx="4391024" cy="30732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Definíció: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Izolált,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virtualizált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hardver- és szoftver környezet, amely valós hálózati forgalmat és támadásokat szimulál.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Cél: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Live-fire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" (éles) gyakorlatok biztosítása kockázatmentesen.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Team Struktúra (Szerepkörök):</a:t>
            </a:r>
            <a:endParaRPr kumimoji="0" lang="hu-HU" altLang="hu-HU" sz="1400" b="0" i="0" u="none" strike="noStrike" cap="none" normalizeH="0" baseline="0" dirty="0">
              <a:ln>
                <a:noFill/>
              </a:ln>
              <a:solidFill>
                <a:schemeClr val="bg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🔴 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Red Team (Támadók):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APT (Advanced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Persistent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Threat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) szimuláció,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exploitok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futtatása.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🔵 </a:t>
            </a: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Blue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Team (Védők):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Incidens detektálás (SIEM), elhárítás és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forensic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elemzés.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⚪ 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White Team (Irányítás):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 szimuláció felügyelete, pontozás, "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inject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"-ek (váratlan események) adása.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🟢 </a:t>
            </a: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Green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Team (Üzemeltetés):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 lőtér infrastruktúrájának karbantartása.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1100" b="0" i="0" u="none" strike="noStrike" cap="none" normalizeH="0" baseline="0" dirty="0">
              <a:ln>
                <a:noFill/>
              </a:ln>
              <a:solidFill>
                <a:schemeClr val="bg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035" name="Group 1034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36" name="Group 1035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027" name="Picture 3" descr="Understanding Cybersecurity Teams: Red, Blue, Green, White, and More | by  Encryptorium | Medium">
            <a:extLst>
              <a:ext uri="{FF2B5EF4-FFF2-40B4-BE49-F238E27FC236}">
                <a16:creationId xmlns:a16="http://schemas.microsoft.com/office/drawing/2014/main" id="{B125D8F9-6947-4010-E1A2-D3C9A086E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1932" y="1634189"/>
            <a:ext cx="4369112" cy="249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165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9" name="Rectangle 208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FB0CEDB-4D96-B855-E452-D4523B28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hu-HU" sz="2800" dirty="0">
                <a:solidFill>
                  <a:schemeClr val="bg1"/>
                </a:solidFill>
              </a:rPr>
              <a:t>1. </a:t>
            </a:r>
            <a:r>
              <a:rPr lang="hu-HU" sz="2800" dirty="0" err="1">
                <a:solidFill>
                  <a:schemeClr val="bg1"/>
                </a:solidFill>
              </a:rPr>
              <a:t>Scenárió</a:t>
            </a:r>
            <a:r>
              <a:rPr lang="hu-HU" sz="2800" dirty="0">
                <a:solidFill>
                  <a:schemeClr val="bg1"/>
                </a:solidFill>
              </a:rPr>
              <a:t> – Webalkalmazás kompromittálása (Web </a:t>
            </a:r>
            <a:r>
              <a:rPr lang="hu-HU" sz="2800" dirty="0" err="1">
                <a:solidFill>
                  <a:schemeClr val="bg1"/>
                </a:solidFill>
              </a:rPr>
              <a:t>Defacement</a:t>
            </a:r>
            <a:r>
              <a:rPr lang="hu-HU" sz="2800" dirty="0">
                <a:solidFill>
                  <a:schemeClr val="bg1"/>
                </a:solidFill>
              </a:rPr>
              <a:t> &amp; Data </a:t>
            </a:r>
            <a:r>
              <a:rPr lang="hu-HU" sz="2800" dirty="0" err="1">
                <a:solidFill>
                  <a:schemeClr val="bg1"/>
                </a:solidFill>
              </a:rPr>
              <a:t>Leak</a:t>
            </a:r>
            <a:r>
              <a:rPr lang="hu-HU" sz="2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F13008-AB2C-0FF3-AFF6-DBCA8C825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146399"/>
            <a:ext cx="4734827" cy="335065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Támadási vektor: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SQL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Injection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SQLi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) vagy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Cross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-Site Scripting (XSS) sérülékenység kihasználása.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Támadói célok:</a:t>
            </a:r>
            <a:endParaRPr kumimoji="0" lang="hu-HU" altLang="hu-HU" sz="1400" b="0" i="0" u="none" strike="noStrike" cap="none" normalizeH="0" baseline="0" dirty="0">
              <a:ln>
                <a:noFill/>
              </a:ln>
              <a:solidFill>
                <a:schemeClr val="bg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Defacement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 weboldal tartalmának/kinézetének jogosulatlan módosítása (reputációs kár).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Exfiltration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Érzékeny ügyféladatok (PII) kinyerése az adatbázisból.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Védelmi feladatok (</a:t>
            </a: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Blue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Team):</a:t>
            </a:r>
            <a:endParaRPr kumimoji="0" lang="hu-HU" altLang="hu-HU" sz="1400" b="0" i="0" u="none" strike="noStrike" cap="none" normalizeH="0" baseline="0" dirty="0">
              <a:ln>
                <a:noFill/>
              </a:ln>
              <a:solidFill>
                <a:schemeClr val="bg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Detektálás: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Web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Firewall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(WAF)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logok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és hálózati forgalom elemzése.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Mitigáció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 támadó IP címének blokkolása, a sérülékenység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patchelése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(kódjavítás).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Recovery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Szolgáltatás helyreállítása tiszta biztonsági mentésből (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Clean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Backup).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800" b="0" i="0" u="none" strike="noStrike" cap="none" normalizeH="0" baseline="0" dirty="0">
              <a:ln>
                <a:noFill/>
              </a:ln>
              <a:solidFill>
                <a:schemeClr val="bg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091" name="Group 2090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092" name="Group 2091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093" name="Group 2092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055" name="Picture 7" descr="Kép erről: SQL injection attack diagram">
            <a:extLst>
              <a:ext uri="{FF2B5EF4-FFF2-40B4-BE49-F238E27FC236}">
                <a16:creationId xmlns:a16="http://schemas.microsoft.com/office/drawing/2014/main" id="{E5F6E67D-7DB3-9714-8717-53B246A33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1932" y="1407931"/>
            <a:ext cx="4369112" cy="294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002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1" name="Rectangle 3090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03191BD-DB27-0BEB-BEC8-93D5CD301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hu-HU" sz="4000">
                <a:solidFill>
                  <a:schemeClr val="bg1"/>
                </a:solidFill>
              </a:rPr>
              <a:t>2. Scenárió – Zsarolóvírus (Ransomware) Krízis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A434DD-E6A7-1B46-72B3-054843B23C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46400"/>
            <a:ext cx="6140449" cy="28622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Induló esemény: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Adathalász (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Phishing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) e-mail megnyitása + kártékony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payload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letöltése.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A támadás fázisai (</a:t>
            </a: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Kill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Chain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hu-HU" altLang="hu-HU" sz="1400" b="0" i="0" u="none" strike="noStrike" cap="none" normalizeH="0" baseline="0" dirty="0">
              <a:ln>
                <a:noFill/>
              </a:ln>
              <a:solidFill>
                <a:schemeClr val="bg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Initial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Access: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 munkaállomás megfertőzése.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Lateral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Movement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Terjedés a belső hálózaton (SMB/RDP protokollok,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Privilege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Escalation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Action </a:t>
            </a: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Objectives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Fájlszerverek titkosítása, váltságdíj követelés.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Kritikus védelmi lépések:</a:t>
            </a:r>
            <a:endParaRPr kumimoji="0" lang="hu-HU" altLang="hu-HU" sz="1400" b="0" i="0" u="none" strike="noStrike" cap="none" normalizeH="0" baseline="0" dirty="0">
              <a:ln>
                <a:noFill/>
              </a:ln>
              <a:solidFill>
                <a:schemeClr val="bg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Containment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 fertőzött szegmensek azonnali hálózati izolációja.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400" b="1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Forensics</a:t>
            </a:r>
            <a:r>
              <a:rPr kumimoji="0" lang="hu-HU" altLang="hu-HU" sz="1400" b="1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 "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Patient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Zero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" (forrásgép) azonosítása a visszatérés megakadályozására.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1300" b="0" i="0" u="none" strike="noStrike" cap="none" normalizeH="0" baseline="0" dirty="0">
              <a:ln>
                <a:noFill/>
              </a:ln>
              <a:solidFill>
                <a:schemeClr val="bg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2DB7B645-699D-15ED-6A49-EDC514408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94" r="25669" b="-1"/>
          <a:stretch>
            <a:fillRect/>
          </a:stretch>
        </p:blipFill>
        <p:spPr bwMode="auto">
          <a:xfrm>
            <a:off x="7668829" y="-1"/>
            <a:ext cx="4543953" cy="6858002"/>
          </a:xfrm>
          <a:custGeom>
            <a:avLst/>
            <a:gdLst/>
            <a:ahLst/>
            <a:cxnLst/>
            <a:rect l="l" t="t" r="r" b="b"/>
            <a:pathLst>
              <a:path w="4543953" h="6858002"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cubicBezTo>
                  <a:pt x="348200" y="2870416"/>
                  <a:pt x="356392" y="2892181"/>
                  <a:pt x="361441" y="2914328"/>
                </a:cubicBez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6"/>
                </a:ln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14887" y="4134256"/>
                </a:lnTo>
                <a:cubicBezTo>
                  <a:pt x="413045" y="4144498"/>
                  <a:pt x="409973" y="4154857"/>
                  <a:pt x="405543" y="4165383"/>
                </a:cubicBez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1638" y="4192388"/>
                </a:lnTo>
                <a:lnTo>
                  <a:pt x="401733" y="4221391"/>
                </a:ln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395828" y="4846490"/>
                  <a:pt x="384397" y="4866958"/>
                  <a:pt x="382691" y="4889275"/>
                </a:cubicBez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81039" y="4952673"/>
                </a:lnTo>
                <a:cubicBezTo>
                  <a:pt x="376253" y="4964604"/>
                  <a:pt x="368680" y="4975511"/>
                  <a:pt x="360964" y="4987037"/>
                </a:cubicBezTo>
                <a:cubicBezTo>
                  <a:pt x="349725" y="5003801"/>
                  <a:pt x="335627" y="5022852"/>
                  <a:pt x="334485" y="5041521"/>
                </a:cubicBezTo>
                <a:cubicBezTo>
                  <a:pt x="332628" y="5073241"/>
                  <a:pt x="310088" y="5101639"/>
                  <a:pt x="308337" y="5133224"/>
                </a:cubicBezTo>
                <a:lnTo>
                  <a:pt x="308337" y="5133225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cubicBezTo>
                  <a:pt x="350964" y="5289657"/>
                  <a:pt x="359489" y="5307422"/>
                  <a:pt x="362870" y="5326163"/>
                </a:cubicBez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5103" y="5507668"/>
                </a:lnTo>
                <a:cubicBezTo>
                  <a:pt x="335056" y="5516503"/>
                  <a:pt x="337532" y="5524837"/>
                  <a:pt x="345723" y="5531694"/>
                </a:cubicBez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cubicBezTo>
                  <a:pt x="164171" y="5900323"/>
                  <a:pt x="156361" y="5918042"/>
                  <a:pt x="154075" y="5935949"/>
                </a:cubicBezTo>
                <a:lnTo>
                  <a:pt x="154075" y="5935950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62457" y="6361540"/>
                </a:lnTo>
                <a:lnTo>
                  <a:pt x="162684" y="6365557"/>
                </a:lnTo>
                <a:lnTo>
                  <a:pt x="163946" y="6387910"/>
                </a:lnTo>
                <a:lnTo>
                  <a:pt x="166047" y="6392243"/>
                </a:lnTo>
                <a:lnTo>
                  <a:pt x="173364" y="6407333"/>
                </a:lnTo>
                <a:lnTo>
                  <a:pt x="173364" y="6407332"/>
                </a:lnTo>
                <a:lnTo>
                  <a:pt x="166047" y="6392243"/>
                </a:lnTo>
                <a:lnTo>
                  <a:pt x="163946" y="6387910"/>
                </a:lnTo>
                <a:lnTo>
                  <a:pt x="162684" y="6365557"/>
                </a:ln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5"/>
                </a:ln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60957" y="5909351"/>
                </a:lnTo>
                <a:cubicBezTo>
                  <a:pt x="164171" y="5900611"/>
                  <a:pt x="168076" y="5892038"/>
                  <a:pt x="171981" y="5883752"/>
                </a:cubicBez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cubicBezTo>
                  <a:pt x="341628" y="5528265"/>
                  <a:pt x="338961" y="5524467"/>
                  <a:pt x="337324" y="5520422"/>
                </a:cubicBez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4317" y="5355014"/>
                </a:lnTo>
                <a:cubicBezTo>
                  <a:pt x="366264" y="5325412"/>
                  <a:pt x="358727" y="5298086"/>
                  <a:pt x="335437" y="5272796"/>
                </a:cubicBez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4"/>
                </a:lnTo>
                <a:lnTo>
                  <a:pt x="315052" y="5166113"/>
                </a:lnTo>
                <a:lnTo>
                  <a:pt x="308337" y="5133225"/>
                </a:lnTo>
                <a:lnTo>
                  <a:pt x="315482" y="5102461"/>
                </a:lnTo>
                <a:cubicBezTo>
                  <a:pt x="322817" y="5082339"/>
                  <a:pt x="333247" y="5062669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72538" y="4969748"/>
                  <a:pt x="383790" y="4953853"/>
                  <a:pt x="385799" y="4933805"/>
                </a:cubicBezTo>
                <a:lnTo>
                  <a:pt x="385799" y="4933805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87469" y="4867614"/>
                </a:lnTo>
                <a:cubicBezTo>
                  <a:pt x="392589" y="4853636"/>
                  <a:pt x="401352" y="4840633"/>
                  <a:pt x="412401" y="4828917"/>
                </a:cubicBez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lnTo>
                  <a:pt x="401733" y="4221391"/>
                </a:lnTo>
                <a:lnTo>
                  <a:pt x="401733" y="4221391"/>
                </a:lnTo>
                <a:lnTo>
                  <a:pt x="401638" y="4192388"/>
                </a:lnTo>
                <a:lnTo>
                  <a:pt x="405543" y="4165384"/>
                </a:lnTo>
                <a:cubicBezTo>
                  <a:pt x="414402" y="4144333"/>
                  <a:pt x="417831" y="4123948"/>
                  <a:pt x="416855" y="4103826"/>
                </a:cubicBez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20"/>
                </a:ln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8"/>
                </a:ln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3"/>
                </a:lnTo>
                <a:lnTo>
                  <a:pt x="366072" y="2947862"/>
                </a:lnTo>
                <a:cubicBezTo>
                  <a:pt x="364965" y="2913982"/>
                  <a:pt x="351534" y="2881226"/>
                  <a:pt x="341533" y="2848793"/>
                </a:cubicBez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16497" y="2426822"/>
                  <a:pt x="410353" y="2444777"/>
                  <a:pt x="409472" y="2463017"/>
                </a:cubicBezTo>
                <a:lnTo>
                  <a:pt x="409472" y="2463018"/>
                </a:lnTo>
                <a:lnTo>
                  <a:pt x="409472" y="2463018"/>
                </a:lnTo>
                <a:cubicBezTo>
                  <a:pt x="408591" y="2481259"/>
                  <a:pt x="412972" y="2499786"/>
                  <a:pt x="418115" y="2518265"/>
                </a:cubicBez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52"/>
                </a:ln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lnTo>
                  <a:pt x="296001" y="2745352"/>
                </a:ln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cubicBezTo>
                  <a:pt x="415544" y="2509025"/>
                  <a:pt x="413163" y="2499773"/>
                  <a:pt x="411535" y="2490551"/>
                </a:cubicBezTo>
                <a:lnTo>
                  <a:pt x="409472" y="2463018"/>
                </a:lnTo>
                <a:lnTo>
                  <a:pt x="415303" y="2435913"/>
                </a:lnTo>
                <a:cubicBezTo>
                  <a:pt x="418938" y="2426977"/>
                  <a:pt x="424451" y="2418154"/>
                  <a:pt x="432404" y="2409486"/>
                </a:cubicBez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2926" y="1453958"/>
                </a:moveTo>
                <a:lnTo>
                  <a:pt x="798723" y="1459073"/>
                </a:lnTo>
                <a:lnTo>
                  <a:pt x="807941" y="1481572"/>
                </a:lnTo>
                <a:lnTo>
                  <a:pt x="798724" y="1459074"/>
                </a:lnTo>
                <a:lnTo>
                  <a:pt x="798723" y="1459073"/>
                </a:lnTo>
                <a:lnTo>
                  <a:pt x="798723" y="1459073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69105" y="298169"/>
                </a:moveTo>
                <a:lnTo>
                  <a:pt x="783887" y="313533"/>
                </a:ln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lnTo>
                  <a:pt x="783887" y="313533"/>
                </a:lnTo>
                <a:lnTo>
                  <a:pt x="783887" y="313533"/>
                </a:ln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58551" y="228948"/>
                </a:lnTo>
                <a:lnTo>
                  <a:pt x="758551" y="228949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4543953" y="2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284400" y="6858001"/>
                </a:ln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lnTo>
                  <a:pt x="311551" y="6702976"/>
                </a:lnTo>
                <a:lnTo>
                  <a:pt x="311551" y="6702976"/>
                </a:lnTo>
                <a:cubicBezTo>
                  <a:pt x="311956" y="6689783"/>
                  <a:pt x="307622" y="6676448"/>
                  <a:pt x="296953" y="6662541"/>
                </a:cubicBezTo>
                <a:cubicBezTo>
                  <a:pt x="293286" y="6657825"/>
                  <a:pt x="290989" y="6651967"/>
                  <a:pt x="289870" y="6645552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lnTo>
                  <a:pt x="328959" y="6564620"/>
                </a:ln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58" y="6625225"/>
                </a:lnTo>
                <a:cubicBezTo>
                  <a:pt x="287762" y="6639108"/>
                  <a:pt x="289619" y="6653111"/>
                  <a:pt x="296953" y="6662542"/>
                </a:cubicBezTo>
                <a:cubicBezTo>
                  <a:pt x="302288" y="6669496"/>
                  <a:pt x="306038" y="6676306"/>
                  <a:pt x="308405" y="6683027"/>
                </a:cubicBezTo>
                <a:lnTo>
                  <a:pt x="311551" y="6702976"/>
                </a:ln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78237" y="6812064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  <a:noFill/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93" name="Group 3092">
            <a:extLst>
              <a:ext uri="{FF2B5EF4-FFF2-40B4-BE49-F238E27FC236}">
                <a16:creationId xmlns:a16="http://schemas.microsoft.com/office/drawing/2014/main" id="{8B60959F-9B69-4520-A16E-EA6BECC7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3094" name="Freeform: Shape 3093">
              <a:extLst>
                <a:ext uri="{FF2B5EF4-FFF2-40B4-BE49-F238E27FC236}">
                  <a16:creationId xmlns:a16="http://schemas.microsoft.com/office/drawing/2014/main" id="{18D5A6E8-CD1B-4796-ABD1-A6F27F6C0E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95" name="Freeform: Shape 3094">
              <a:extLst>
                <a:ext uri="{FF2B5EF4-FFF2-40B4-BE49-F238E27FC236}">
                  <a16:creationId xmlns:a16="http://schemas.microsoft.com/office/drawing/2014/main" id="{D7E12F56-F4EE-4535-8677-C11996E24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833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410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56B2A32-056D-F5D5-CCC2-44BAB1240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hu-HU" sz="2800">
                <a:solidFill>
                  <a:schemeClr val="bg1"/>
                </a:solidFill>
              </a:rPr>
              <a:t>3. Scenárió – OT/ICS (Ipari Vezérlőrendszerek) Támadása</a:t>
            </a:r>
          </a:p>
        </p:txBody>
      </p:sp>
      <p:cxnSp>
        <p:nvCxnSpPr>
          <p:cNvPr id="4106" name="Straight Connector 410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B4EDA650-04C5-A625-4F6E-CB13FE9A85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0" y="2288833"/>
            <a:ext cx="4800600" cy="371157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Környezet:</a:t>
            </a:r>
            <a:r>
              <a:rPr kumimoji="0" lang="hu-HU" altLang="hu-HU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SCADA rendszerek (pl. vízszolgáltató, energetika, gyártósor).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Specifikus fenyegetés:</a:t>
            </a:r>
            <a:r>
              <a:rPr kumimoji="0" lang="hu-HU" altLang="hu-HU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Cyber-Physical támadások (a kiber térből fizikai kár okozása).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Támadási technika:</a:t>
            </a:r>
            <a:endParaRPr kumimoji="0" lang="hu-HU" altLang="hu-HU" sz="1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Man-in-the-Middle (MitM):</a:t>
            </a:r>
            <a:r>
              <a:rPr kumimoji="0" lang="hu-HU" altLang="hu-HU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Szenzoradatok hamisítása a HMI (Human-Machine Interface) felé.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PLC manipuláció:</a:t>
            </a:r>
            <a:r>
              <a:rPr kumimoji="0" lang="hu-HU" altLang="hu-HU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Vezérlő parancsok felülírása (pl. szelepek kinyitása, fordulatszám növelése).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Kihívás:</a:t>
            </a:r>
            <a:r>
              <a:rPr kumimoji="0" lang="hu-HU" altLang="hu-HU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Az IT biztonsági eszközök gyakran nem értelmezik az ipari protokollokat (pl. Modbus, DNP3).</a:t>
            </a:r>
          </a:p>
        </p:txBody>
      </p:sp>
      <p:pic>
        <p:nvPicPr>
          <p:cNvPr id="4099" name="Picture 3" descr="Kép erről: scada system architecture diagram">
            <a:extLst>
              <a:ext uri="{FF2B5EF4-FFF2-40B4-BE49-F238E27FC236}">
                <a16:creationId xmlns:a16="http://schemas.microsoft.com/office/drawing/2014/main" id="{DF1780C3-E4E0-34B5-8792-B5A2183C3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86965" y="1718151"/>
            <a:ext cx="4562263" cy="342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08" name="Straight Connector 4107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72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2" name="Rectangle 512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A26DA7C-5903-60F0-BAE2-40D39172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hu-HU">
                <a:solidFill>
                  <a:schemeClr val="bg1"/>
                </a:solidFill>
              </a:rPr>
              <a:t>Összegzés és Üzleti Megtérülés (ROI)</a:t>
            </a:r>
          </a:p>
        </p:txBody>
      </p:sp>
      <p:cxnSp>
        <p:nvCxnSpPr>
          <p:cNvPr id="5163" name="Straight Connector 512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D7CB3AC9-4240-2E99-FFA6-FD73A3D627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0" y="2288833"/>
            <a:ext cx="4800600" cy="371157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Mit fejleszt a </a:t>
            </a:r>
            <a:r>
              <a:rPr kumimoji="0" lang="hu-HU" altLang="hu-HU" sz="17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Cyber</a:t>
            </a:r>
            <a:r>
              <a:rPr kumimoji="0" lang="hu-HU" altLang="hu-HU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7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Range</a:t>
            </a:r>
            <a:r>
              <a:rPr kumimoji="0" lang="hu-HU" altLang="hu-HU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?</a:t>
            </a:r>
            <a:endParaRPr kumimoji="0" lang="hu-HU" altLang="hu-HU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Technikai készségek: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Valós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malware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-ek viselkedésének ismerete.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Soft</a:t>
            </a:r>
            <a:r>
              <a:rPr kumimoji="0" lang="hu-HU" altLang="hu-HU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7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Skills</a:t>
            </a:r>
            <a:r>
              <a:rPr kumimoji="0" lang="hu-HU" altLang="hu-HU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Csapatkommunikáció krízishelyzetben, stresszkezelés.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Folyamat-validáció: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Az Incidenskezelési Terv (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Incident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Response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Plan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- IRP) tesztelése a valóságban.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Konklúzió:</a:t>
            </a:r>
            <a:endParaRPr kumimoji="0" lang="hu-HU" altLang="hu-HU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hu-HU" altLang="hu-HU" sz="17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Train</a:t>
            </a:r>
            <a:r>
              <a:rPr kumimoji="0" lang="hu-HU" altLang="hu-HU" sz="17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7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</a:t>
            </a:r>
            <a:r>
              <a:rPr kumimoji="0" lang="hu-HU" altLang="hu-HU" sz="17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7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you</a:t>
            </a:r>
            <a:r>
              <a:rPr kumimoji="0" lang="hu-HU" altLang="hu-HU" sz="17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7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fight</a:t>
            </a:r>
            <a:r>
              <a:rPr kumimoji="0" lang="hu-HU" altLang="hu-HU" sz="17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elv érvényesítése.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felkészült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Blue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Team csökkenti a valós incidensek detektálási idejét (MTTD) és költségeit.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3" name="Picture 3" descr="8 Must-know Types of Cyber Security Training in 2025">
            <a:extLst>
              <a:ext uri="{FF2B5EF4-FFF2-40B4-BE49-F238E27FC236}">
                <a16:creationId xmlns:a16="http://schemas.microsoft.com/office/drawing/2014/main" id="{0CC83CCB-9703-F8C9-CB0A-81A1A61CC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03844" y="2425302"/>
            <a:ext cx="4562263" cy="200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64" name="Straight Connector 5131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558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AF40D0A-2F54-5C66-D26A-6B3F24967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Köszönjük a figyelmet!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98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99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0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01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4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5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6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7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8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9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0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2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3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4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5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6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7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8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9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0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1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2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3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4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5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7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8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9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0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1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2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3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4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5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6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7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8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9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0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1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2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3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4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5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6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7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8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9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3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4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5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7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8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9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0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4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5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6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7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8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9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0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1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2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3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4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5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6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8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9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1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2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3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4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5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6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7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8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9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1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2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3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4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6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7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8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9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0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1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4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7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8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9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0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1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2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3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4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5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6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7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8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9059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475</Words>
  <Application>Microsoft Office PowerPoint</Application>
  <PresentationFormat>Szélesvásznú</PresentationFormat>
  <Paragraphs>43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Office-téma</vt:lpstr>
      <vt:lpstr>A Cyber range lőtér alkalmazásának scenáriói.</vt:lpstr>
      <vt:lpstr>Cyber Range: A modern kiberbiztonsági oktatás alapja</vt:lpstr>
      <vt:lpstr>1. Scenárió – Webalkalmazás kompromittálása (Web Defacement &amp; Data Leak)</vt:lpstr>
      <vt:lpstr>2. Scenárió – Zsarolóvírus (Ransomware) Krízis</vt:lpstr>
      <vt:lpstr>3. Scenárió – OT/ICS (Ipari Vezérlőrendszerek) Támadása</vt:lpstr>
      <vt:lpstr>Összegzés és Üzleti Megtérülés (ROI)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Percze Dániel</dc:creator>
  <cp:lastModifiedBy>Percze Daniel</cp:lastModifiedBy>
  <cp:revision>1</cp:revision>
  <dcterms:created xsi:type="dcterms:W3CDTF">2025-12-07T09:43:26Z</dcterms:created>
  <dcterms:modified xsi:type="dcterms:W3CDTF">2025-12-07T10:02:15Z</dcterms:modified>
</cp:coreProperties>
</file>