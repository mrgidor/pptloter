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type="screen16x9" cy="6858000" cx="12192000"/>
  <p:notesSz cx="6858000" cy="9144000"/>
  <p:defaultTextStyle>
    <a:defPPr>
      <a:defRPr lang="hu-HU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4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4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5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5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5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Címdia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1048582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1048583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584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58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Cím és tartalom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Cím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hu-HU"/>
              <a:t>Mintacím szerkesztése</a:t>
            </a:r>
          </a:p>
        </p:txBody>
      </p:sp>
      <p:sp>
        <p:nvSpPr>
          <p:cNvPr id="1048590" name="Tartalom helye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1048591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592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593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zakaszfejléc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1048820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48821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822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823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2 tartalomrész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Cím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hu-HU"/>
              <a:t>Mintacím szerkesztése</a:t>
            </a:r>
          </a:p>
        </p:txBody>
      </p:sp>
      <p:sp>
        <p:nvSpPr>
          <p:cNvPr id="1048825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1048826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1048827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828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829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Összehasonlítás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hu-HU"/>
              <a:t>Mintacím szerkesztése</a:t>
            </a:r>
          </a:p>
        </p:txBody>
      </p:sp>
      <p:sp>
        <p:nvSpPr>
          <p:cNvPr id="1048831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48832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1048833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48834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1048835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836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837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Csak cím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Cím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hu-HU"/>
              <a:t>Mintacím szerkesztése</a:t>
            </a:r>
          </a:p>
        </p:txBody>
      </p:sp>
      <p:sp>
        <p:nvSpPr>
          <p:cNvPr id="1048800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801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802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Üres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839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840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Tartalomrész képaláírással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1048842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1048843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48844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845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846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Kép képaláírással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1048809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hu-HU"/>
          </a:p>
        </p:txBody>
      </p:sp>
      <p:sp>
        <p:nvSpPr>
          <p:cNvPr id="1048810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48811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812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813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Cím és függőleges szöveg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Cím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hu-HU"/>
              <a:t>Mintacím szerkesztése</a:t>
            </a:r>
          </a:p>
        </p:txBody>
      </p:sp>
      <p:sp>
        <p:nvSpPr>
          <p:cNvPr id="1048815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1048816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817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818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Függőleges cím és szöveg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hu-HU"/>
              <a:t>Mintacím szerkesztése</a:t>
            </a:r>
          </a:p>
        </p:txBody>
      </p:sp>
      <p:sp>
        <p:nvSpPr>
          <p:cNvPr id="1048804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1048805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806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hu-HU"/>
          </a:p>
        </p:txBody>
      </p:sp>
      <p:sp>
        <p:nvSpPr>
          <p:cNvPr id="1048807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hu-HU"/>
              <a:t>Mintacím szerkesztése</a:t>
            </a:r>
          </a:p>
        </p:txBody>
      </p:sp>
      <p:sp>
        <p:nvSpPr>
          <p:cNvPr id="1048577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1048578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9C7E4-6EA6-487B-A6DA-ED29098544BF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1048579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1048580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FC7B3-2A1A-4461-8EF9-9240FCF4936D}" type="slidenum">
              <a:rPr lang="hu-HU" smtClean="0"/>
              <a:t>‹#›</a:t>
            </a:fld>
            <a:endParaRPr lang="hu-HU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615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7999"/>
          </a:xfrm>
          <a:prstGeom prst="rect"/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52" name="Picture 2" descr="Security Operations Center Images – Browse 90,668 Stock Photos, Vectors,  and Video | Adobe Stock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>
            <a:alphaModFix amt="50000"/>
          </a:blip>
          <a:srcRect r="444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/>
          <a:noFill/>
        </p:spPr>
      </p:pic>
      <p:sp>
        <p:nvSpPr>
          <p:cNvPr id="1048587" name="Cím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p>
            <a:r>
              <a:rPr dirty="0" lang="hu-HU">
                <a:solidFill>
                  <a:srgbClr val="FFFFFF"/>
                </a:solidFill>
              </a:rPr>
              <a:t>A </a:t>
            </a:r>
            <a:r>
              <a:rPr dirty="0" lang="hu-HU" err="1">
                <a:solidFill>
                  <a:srgbClr val="FFFFFF"/>
                </a:solidFill>
              </a:rPr>
              <a:t>Cyber</a:t>
            </a:r>
            <a:r>
              <a:rPr dirty="0" lang="hu-HU">
                <a:solidFill>
                  <a:srgbClr val="FFFFFF"/>
                </a:solidFill>
              </a:rPr>
              <a:t> </a:t>
            </a:r>
            <a:r>
              <a:rPr dirty="0" lang="hu-HU" err="1">
                <a:solidFill>
                  <a:srgbClr val="FFFFFF"/>
                </a:solidFill>
              </a:rPr>
              <a:t>range</a:t>
            </a:r>
            <a:r>
              <a:rPr dirty="0" lang="hu-HU">
                <a:solidFill>
                  <a:srgbClr val="FFFFFF"/>
                </a:solidFill>
              </a:rPr>
              <a:t> lőtér alkalmazásának </a:t>
            </a:r>
            <a:r>
              <a:rPr dirty="0" lang="hu-HU" err="1">
                <a:solidFill>
                  <a:srgbClr val="FFFFFF"/>
                </a:solidFill>
              </a:rPr>
              <a:t>scenáriói</a:t>
            </a:r>
            <a:r>
              <a:rPr dirty="0" lang="hu-HU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048588" name="Alcím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p>
            <a:endParaRPr lang="hu-HU">
              <a:solidFill>
                <a:srgbClr val="FFFFFF"/>
              </a:solidFill>
            </a:endParaRPr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10" presetSubtype="0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700" id="7"/>
                                        <p:tgtEl>
                                          <p:spTgt spid="104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4" name="Rectangle 103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95" name="Cím 1"/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p>
            <a:r>
              <a:rPr sz="2800" lang="hu-HU">
                <a:solidFill>
                  <a:schemeClr val="bg1"/>
                </a:solidFill>
              </a:rPr>
              <a:t>Cyber Range: A modern kiberbiztonsági oktatás alapja</a:t>
            </a:r>
          </a:p>
        </p:txBody>
      </p:sp>
      <p:sp>
        <p:nvSpPr>
          <p:cNvPr id="104859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13018" y="766848"/>
            <a:ext cx="5690775" cy="5833041"/>
          </a:xfrm>
          <a:prstGeom prst="rect"/>
        </p:spPr>
        <p:txBody>
          <a:bodyPr anchorCtr="0" bIns="45720" compatLnSpc="1" lIns="91440" numCol="1" rIns="91440" tIns="45720" vert="horz">
            <a:prstTxWarp prst="textNoShape"/>
            <a:normAutofit/>
          </a:bodyPr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Definíció: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Izolált,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virtualizált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hardver- és szoftver környezet, amely valós hálózati forgalmat és támadásokat szimulál.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Cél: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"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Live-fire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 (éles) gyakorlatok biztosítása kockázatmentesen.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Team Struktúra (Szerepkörök):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🔴 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Red Team (Támadók):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APT (Advanced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Persistent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Threat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szimuláció,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exploitok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futtatása.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🔵 </a:t>
            </a: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Blue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Team (Védők):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Incidens detektálás (SIEM), elhárítás és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forensic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elemzés.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⚪ 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White Team (Irányítás):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szimuláció felügyelete, pontozás, "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inject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"-ek (váratlan események) adása.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🟢 </a:t>
            </a: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Green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Team (Üzemeltetés):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lőtér infrastruktúrájának karbantartása.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altLang="hu-HU" baseline="0" b="0" cap="none" dirty="0" sz="11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4" name="Group 1033"/>
          <p:cNvGrpSpPr>
            <a:grpSpLocks noMove="1" noResize="1" noRot="1" noGrp="1" noChangeAspect="1"/>
          </p:cNvGrpSpPr>
          <p:nvPr/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algn="ctr" blurRad="381000" dir="5400000" dist="152400" rotWithShape="0">
              <a:srgbClr val="000000">
                <a:alpha val="10000"/>
              </a:srgbClr>
            </a:outerShdw>
          </a:effectLst>
        </p:grpSpPr>
        <p:grpSp>
          <p:nvGrpSpPr>
            <p:cNvPr id="25" name="Group 1034"/>
            <p:cNvGrpSpPr/>
            <p:nvPr/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048597" name="Freeform: Shape 1038"/>
              <p:cNvSpPr/>
              <p:nvPr/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p>
                <a:pPr algn="ctr"/>
                <a:endParaRPr lang="en-US"/>
              </a:p>
            </p:txBody>
          </p:sp>
          <p:sp>
            <p:nvSpPr>
              <p:cNvPr id="1048598" name="Freeform: Shape 1039"/>
              <p:cNvSpPr/>
              <p:nvPr/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p>
                <a:pPr algn="ctr"/>
                <a:endParaRPr dirty="0" lang="en-US"/>
              </a:p>
            </p:txBody>
          </p:sp>
        </p:grpSp>
        <p:grpSp>
          <p:nvGrpSpPr>
            <p:cNvPr id="26" name="Group 1035"/>
            <p:cNvGrpSpPr/>
            <p:nvPr/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048599" name="Freeform: Shape 1036"/>
              <p:cNvSpPr/>
              <p:nvPr/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p>
                <a:pPr algn="ctr"/>
                <a:endParaRPr lang="en-US"/>
              </a:p>
            </p:txBody>
          </p:sp>
          <p:sp>
            <p:nvSpPr>
              <p:cNvPr id="1048600" name="Freeform: Shape 1037"/>
              <p:cNvSpPr/>
              <p:nvPr/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rotWithShape="1" dpi="0">
                <a:blip xmlns:r="http://schemas.openxmlformats.org/officeDocument/2006/relationships" r:embed="rId1">
                  <a:alphaModFix amt="57000"/>
                </a:blip>
                <a:srcRect/>
                <a:tile algn="tl" flip="none" sx="100000" sy="100000" tx="0" ty="0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p>
                <a:pPr algn="ctr"/>
                <a:endParaRPr lang="en-US"/>
              </a:p>
            </p:txBody>
          </p:sp>
        </p:grpSp>
      </p:grpSp>
      <p:pic>
        <p:nvPicPr>
          <p:cNvPr id="2097153" name="Picture 3" descr="Understanding Cybersecurity Teams: Red, Blue, Green, White, and More | by  Encryptorium | Medium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 bwMode="auto">
          <a:xfrm>
            <a:off x="6541932" y="1634189"/>
            <a:ext cx="4369112" cy="2496635"/>
          </a:xfrm>
          <a:prstGeom prst="rect"/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01" name="Rectangle 208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02" name="Cím 1"/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 fontScale="90000"/>
          </a:bodyPr>
          <a:p>
            <a:r>
              <a:rPr dirty="0" sz="2800" lang="hu-HU">
                <a:solidFill>
                  <a:schemeClr val="bg1"/>
                </a:solidFill>
              </a:rPr>
              <a:t>1. </a:t>
            </a:r>
            <a:r>
              <a:rPr dirty="0" sz="2800" lang="hu-HU" err="1">
                <a:solidFill>
                  <a:schemeClr val="bg1"/>
                </a:solidFill>
              </a:rPr>
              <a:t>Scenárió</a:t>
            </a:r>
            <a:r>
              <a:rPr dirty="0" sz="2800" lang="hu-HU">
                <a:solidFill>
                  <a:schemeClr val="bg1"/>
                </a:solidFill>
              </a:rPr>
              <a:t> – Webalkalmazás kompromittálása (Web </a:t>
            </a:r>
            <a:r>
              <a:rPr dirty="0" sz="2800" lang="hu-HU" err="1">
                <a:solidFill>
                  <a:schemeClr val="bg1"/>
                </a:solidFill>
              </a:rPr>
              <a:t>Defacement</a:t>
            </a:r>
            <a:r>
              <a:rPr dirty="0" sz="2800" lang="hu-HU">
                <a:solidFill>
                  <a:schemeClr val="bg1"/>
                </a:solidFill>
              </a:rPr>
              <a:t> &amp; Data </a:t>
            </a:r>
            <a:r>
              <a:rPr dirty="0" sz="2800" lang="hu-HU" err="1">
                <a:solidFill>
                  <a:schemeClr val="bg1"/>
                </a:solidFill>
              </a:rPr>
              <a:t>Leak</a:t>
            </a:r>
            <a:r>
              <a:rPr dirty="0" sz="2800" lang="hu-HU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4860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207179"/>
            <a:ext cx="4734827" cy="5351026"/>
          </a:xfrm>
          <a:prstGeom prst="rect"/>
        </p:spPr>
        <p:txBody>
          <a:bodyPr anchorCtr="0" bIns="45720" compatLnSpc="1" lIns="91440" numCol="1" rIns="91440" tIns="45720" vert="horz">
            <a:prstTxWarp prst="textNoShape"/>
            <a:normAutofit lnSpcReduction="10000"/>
          </a:bodyPr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Támadási vektor: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SQL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Injection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SQLi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vagy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Cross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-Site Scripting (XSS) sérülékenység kihasználása.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Támadói célok: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</a:pP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Defacement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weboldal tartalmának/kinézetének jogosulatlan módosítása (reputációs kár).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Exfiltration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Érzékeny ügyféladatok (PII) kinyerése az adatbázisból.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Védelmi feladatok (</a:t>
            </a: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Blue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Team):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Detektálás: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Web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Firewall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(WAF)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logok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és hálózati forgalom elemzése.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Mitigáció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támadó IP címének blokkolása, a sérülékenység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patchelése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(kódjavítás).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Recovery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Szolgáltatás helyreállítása tiszta biztonsági mentésből (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Clean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Backup).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altLang="hu-HU" baseline="0" b="0" cap="none" dirty="0" sz="8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8" name="Group 2090"/>
          <p:cNvGrpSpPr>
            <a:grpSpLocks noMove="1" noResize="1" noRot="1" noGrp="1" noChangeAspect="1"/>
          </p:cNvGrpSpPr>
          <p:nvPr/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algn="ctr" blurRad="381000" dir="5400000" dist="152400" rotWithShape="0">
              <a:srgbClr val="000000">
                <a:alpha val="10000"/>
              </a:srgbClr>
            </a:outerShdw>
          </a:effectLst>
        </p:grpSpPr>
        <p:grpSp>
          <p:nvGrpSpPr>
            <p:cNvPr id="29" name="Group 2091"/>
            <p:cNvGrpSpPr/>
            <p:nvPr/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048604" name="Freeform: Shape 2095"/>
              <p:cNvSpPr/>
              <p:nvPr/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p>
                <a:pPr algn="ctr"/>
                <a:endParaRPr lang="en-US"/>
              </a:p>
            </p:txBody>
          </p:sp>
          <p:sp>
            <p:nvSpPr>
              <p:cNvPr id="1048605" name="Freeform: Shape 2096"/>
              <p:cNvSpPr/>
              <p:nvPr/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p>
                <a:pPr algn="ctr"/>
                <a:endParaRPr dirty="0" lang="en-US"/>
              </a:p>
            </p:txBody>
          </p:sp>
        </p:grpSp>
        <p:grpSp>
          <p:nvGrpSpPr>
            <p:cNvPr id="30" name="Group 2092"/>
            <p:cNvGrpSpPr/>
            <p:nvPr/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048606" name="Freeform: Shape 2093"/>
              <p:cNvSpPr/>
              <p:nvPr/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p>
                <a:pPr algn="ctr"/>
                <a:endParaRPr lang="en-US"/>
              </a:p>
            </p:txBody>
          </p:sp>
          <p:sp>
            <p:nvSpPr>
              <p:cNvPr id="1048607" name="Freeform: Shape 2094"/>
              <p:cNvSpPr/>
              <p:nvPr/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rotWithShape="1" dpi="0">
                <a:blip xmlns:r="http://schemas.openxmlformats.org/officeDocument/2006/relationships" r:embed="rId1">
                  <a:alphaModFix amt="57000"/>
                </a:blip>
                <a:srcRect/>
                <a:tile algn="tl" flip="none" sx="100000" sy="100000" tx="0" ty="0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 wrap="square">
                <a:noAutofit/>
              </a:bodyPr>
              <a:p>
                <a:pPr algn="ctr"/>
                <a:endParaRPr lang="en-US"/>
              </a:p>
            </p:txBody>
          </p:sp>
        </p:grpSp>
      </p:grpSp>
      <p:pic>
        <p:nvPicPr>
          <p:cNvPr id="2097154" name="Picture 7" descr="Kép erről: SQL injection attack diagram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 bwMode="auto">
          <a:xfrm>
            <a:off x="6541932" y="1407931"/>
            <a:ext cx="4369112" cy="2949150"/>
          </a:xfrm>
          <a:prstGeom prst="rect"/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08" name="Rectangle 309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09" name="Cím 1"/>
          <p:cNvSpPr>
            <a:spLocks noGrp="1"/>
          </p:cNvSpPr>
          <p:nvPr>
            <p:ph type="title"/>
          </p:nvPr>
        </p:nvSpPr>
        <p:spPr>
          <a:xfrm>
            <a:off x="838200" y="1641752"/>
            <a:ext cx="6140449" cy="1323439"/>
          </a:xfrm>
        </p:spPr>
        <p:txBody>
          <a:bodyPr anchor="t">
            <a:normAutofit/>
          </a:bodyPr>
          <a:p>
            <a:r>
              <a:rPr sz="4000" lang="hu-HU">
                <a:solidFill>
                  <a:schemeClr val="bg1"/>
                </a:solidFill>
              </a:rPr>
              <a:t>2. Scenárió – Zsarolóvírus (Ransomware) Krízis</a:t>
            </a:r>
          </a:p>
        </p:txBody>
      </p:sp>
      <p:sp>
        <p:nvSpPr>
          <p:cNvPr id="1048610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19100" y="1534046"/>
            <a:ext cx="6140449" cy="4842540"/>
          </a:xfrm>
          <a:prstGeom prst="rect"/>
        </p:spPr>
        <p:txBody>
          <a:bodyPr anchorCtr="0" bIns="45720" compatLnSpc="1" lIns="91440" numCol="1" rIns="91440" tIns="45720" vert="horz">
            <a:prstTxWarp prst="textNoShape"/>
            <a:normAutofit/>
          </a:bodyPr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Induló esemény: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Adathalász (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Phishing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e-mail megnyitása + kártékony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payload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letöltése.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támadás fázisai (</a:t>
            </a: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Kill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Chain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):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</a:pP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Initial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Access: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munkaállomás megfertőzése.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</a:pP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Lateral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Movement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Terjedés a belső hálózaton (SMB/RDP protokollok,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Privilege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Escalation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Action </a:t>
            </a: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Objectives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Fájlszerverek titkosítása, váltságdíj követelés.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Kritikus védelmi lépések: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Containment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fertőzött szegmensek azonnali hálózati izolációja.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Forensics</a:t>
            </a:r>
            <a:r>
              <a:rPr altLang="hu-HU" baseline="0" b="1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"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Patient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0" cap="none" dirty="0" sz="1400" i="0" kumimoji="0" lang="hu-HU" normalizeH="0" err="1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Zero</a:t>
            </a:r>
            <a:r>
              <a:rPr altLang="hu-HU" baseline="0" b="0" cap="none" dirty="0" sz="1400" i="0" kumimoji="0" lang="hu-HU" normalizeH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 (forrásgép) azonosítása a visszatérés megakadályozására.</a:t>
            </a:r>
            <a:endParaRPr altLang="hu-HU" baseline="0" b="0" cap="none" dirty="0" sz="14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altLang="hu-HU" baseline="0" b="0" cap="none" dirty="0" sz="1300" i="0" kumimoji="0" lang="hu-HU" normalizeH="0" strike="noStrike" u="none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97155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l="26294" r="25669" b="-1"/>
          <a:stretch>
            <a:fillRect/>
          </a:stretch>
        </p:blipFill>
        <p:spPr bwMode="auto">
          <a:xfrm>
            <a:off x="7668829" y="-1"/>
            <a:ext cx="4543953" cy="6858002"/>
          </a:xfrm>
          <a:custGeom>
            <a:avLst/>
            <a:ahLst/>
            <a:rect l="l" t="t" r="r" b="b"/>
            <a:pathLst>
              <a:path w="4543953" h="6858002"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cubicBezTo>
                  <a:pt x="348200" y="2870416"/>
                  <a:pt x="356392" y="2892181"/>
                  <a:pt x="361441" y="2914328"/>
                </a:cubicBez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6"/>
                </a:ln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14887" y="4134256"/>
                </a:lnTo>
                <a:cubicBezTo>
                  <a:pt x="413045" y="4144498"/>
                  <a:pt x="409973" y="4154857"/>
                  <a:pt x="405543" y="4165383"/>
                </a:cubicBez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1638" y="4192388"/>
                </a:lnTo>
                <a:lnTo>
                  <a:pt x="401733" y="4221391"/>
                </a:ln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395828" y="4846490"/>
                  <a:pt x="384397" y="4866958"/>
                  <a:pt x="382691" y="4889275"/>
                </a:cubicBez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81039" y="4952673"/>
                </a:lnTo>
                <a:cubicBezTo>
                  <a:pt x="376253" y="4964604"/>
                  <a:pt x="368680" y="4975511"/>
                  <a:pt x="360964" y="4987037"/>
                </a:cubicBezTo>
                <a:cubicBezTo>
                  <a:pt x="349725" y="5003801"/>
                  <a:pt x="335627" y="5022852"/>
                  <a:pt x="334485" y="5041521"/>
                </a:cubicBezTo>
                <a:cubicBezTo>
                  <a:pt x="332628" y="5073241"/>
                  <a:pt x="310088" y="5101639"/>
                  <a:pt x="308337" y="5133224"/>
                </a:cubicBezTo>
                <a:lnTo>
                  <a:pt x="308337" y="5133225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cubicBezTo>
                  <a:pt x="350964" y="5289657"/>
                  <a:pt x="359489" y="5307422"/>
                  <a:pt x="362870" y="5326163"/>
                </a:cubicBez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5103" y="5507668"/>
                </a:lnTo>
                <a:cubicBezTo>
                  <a:pt x="335056" y="5516503"/>
                  <a:pt x="337532" y="5524837"/>
                  <a:pt x="345723" y="5531694"/>
                </a:cubicBez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cubicBezTo>
                  <a:pt x="164171" y="5900323"/>
                  <a:pt x="156361" y="5918042"/>
                  <a:pt x="154075" y="5935949"/>
                </a:cubicBezTo>
                <a:lnTo>
                  <a:pt x="154075" y="5935950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62457" y="6361540"/>
                </a:lnTo>
                <a:lnTo>
                  <a:pt x="162684" y="6365557"/>
                </a:lnTo>
                <a:lnTo>
                  <a:pt x="163946" y="6387910"/>
                </a:lnTo>
                <a:lnTo>
                  <a:pt x="166047" y="6392243"/>
                </a:lnTo>
                <a:lnTo>
                  <a:pt x="173364" y="6407333"/>
                </a:lnTo>
                <a:lnTo>
                  <a:pt x="173364" y="6407332"/>
                </a:lnTo>
                <a:lnTo>
                  <a:pt x="166047" y="6392243"/>
                </a:lnTo>
                <a:lnTo>
                  <a:pt x="163946" y="6387910"/>
                </a:lnTo>
                <a:lnTo>
                  <a:pt x="162684" y="6365557"/>
                </a:ln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5"/>
                </a:ln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60957" y="5909351"/>
                </a:lnTo>
                <a:cubicBezTo>
                  <a:pt x="164171" y="5900611"/>
                  <a:pt x="168076" y="5892038"/>
                  <a:pt x="171981" y="5883752"/>
                </a:cubicBez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cubicBezTo>
                  <a:pt x="341628" y="5528265"/>
                  <a:pt x="338961" y="5524467"/>
                  <a:pt x="337324" y="5520422"/>
                </a:cubicBez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4317" y="5355014"/>
                </a:lnTo>
                <a:cubicBezTo>
                  <a:pt x="366264" y="5325412"/>
                  <a:pt x="358727" y="5298086"/>
                  <a:pt x="335437" y="5272796"/>
                </a:cubicBez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4"/>
                </a:lnTo>
                <a:lnTo>
                  <a:pt x="315052" y="5166113"/>
                </a:lnTo>
                <a:lnTo>
                  <a:pt x="308337" y="5133225"/>
                </a:lnTo>
                <a:lnTo>
                  <a:pt x="315482" y="5102461"/>
                </a:lnTo>
                <a:cubicBezTo>
                  <a:pt x="322817" y="5082339"/>
                  <a:pt x="333247" y="5062669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72538" y="4969748"/>
                  <a:pt x="383790" y="4953853"/>
                  <a:pt x="385799" y="4933805"/>
                </a:cubicBezTo>
                <a:lnTo>
                  <a:pt x="385799" y="4933805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87469" y="4867614"/>
                </a:lnTo>
                <a:cubicBezTo>
                  <a:pt x="392589" y="4853636"/>
                  <a:pt x="401352" y="4840633"/>
                  <a:pt x="412401" y="4828917"/>
                </a:cubicBez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lnTo>
                  <a:pt x="401733" y="4221391"/>
                </a:lnTo>
                <a:lnTo>
                  <a:pt x="401733" y="4221391"/>
                </a:lnTo>
                <a:lnTo>
                  <a:pt x="401638" y="4192388"/>
                </a:lnTo>
                <a:lnTo>
                  <a:pt x="405543" y="4165384"/>
                </a:lnTo>
                <a:cubicBezTo>
                  <a:pt x="414402" y="4144333"/>
                  <a:pt x="417831" y="4123948"/>
                  <a:pt x="416855" y="4103826"/>
                </a:cubicBez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20"/>
                </a:ln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8"/>
                </a:ln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3"/>
                </a:lnTo>
                <a:lnTo>
                  <a:pt x="366072" y="2947862"/>
                </a:lnTo>
                <a:cubicBezTo>
                  <a:pt x="364965" y="2913982"/>
                  <a:pt x="351534" y="2881226"/>
                  <a:pt x="341533" y="2848793"/>
                </a:cubicBez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16497" y="2426822"/>
                  <a:pt x="410353" y="2444777"/>
                  <a:pt x="409472" y="2463017"/>
                </a:cubicBezTo>
                <a:lnTo>
                  <a:pt x="409472" y="2463018"/>
                </a:lnTo>
                <a:lnTo>
                  <a:pt x="409472" y="2463018"/>
                </a:lnTo>
                <a:cubicBezTo>
                  <a:pt x="408591" y="2481259"/>
                  <a:pt x="412972" y="2499786"/>
                  <a:pt x="418115" y="2518265"/>
                </a:cubicBez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52"/>
                </a:ln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lnTo>
                  <a:pt x="296001" y="2745352"/>
                </a:ln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cubicBezTo>
                  <a:pt x="415544" y="2509025"/>
                  <a:pt x="413163" y="2499773"/>
                  <a:pt x="411535" y="2490551"/>
                </a:cubicBezTo>
                <a:lnTo>
                  <a:pt x="409472" y="2463018"/>
                </a:lnTo>
                <a:lnTo>
                  <a:pt x="415303" y="2435913"/>
                </a:lnTo>
                <a:cubicBezTo>
                  <a:pt x="418938" y="2426977"/>
                  <a:pt x="424451" y="2418154"/>
                  <a:pt x="432404" y="2409486"/>
                </a:cubicBez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2926" y="1453958"/>
                </a:moveTo>
                <a:lnTo>
                  <a:pt x="798723" y="1459073"/>
                </a:lnTo>
                <a:lnTo>
                  <a:pt x="807941" y="1481572"/>
                </a:lnTo>
                <a:lnTo>
                  <a:pt x="798724" y="1459074"/>
                </a:lnTo>
                <a:lnTo>
                  <a:pt x="798723" y="1459073"/>
                </a:lnTo>
                <a:lnTo>
                  <a:pt x="798723" y="1459073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69105" y="298169"/>
                </a:moveTo>
                <a:lnTo>
                  <a:pt x="783887" y="313533"/>
                </a:ln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lnTo>
                  <a:pt x="783887" y="313533"/>
                </a:lnTo>
                <a:lnTo>
                  <a:pt x="783887" y="313533"/>
                </a:ln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58551" y="228948"/>
                </a:lnTo>
                <a:lnTo>
                  <a:pt x="758551" y="228949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4543953" y="2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284400" y="6858001"/>
                </a:ln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lnTo>
                  <a:pt x="311551" y="6702976"/>
                </a:lnTo>
                <a:lnTo>
                  <a:pt x="311551" y="6702976"/>
                </a:lnTo>
                <a:cubicBezTo>
                  <a:pt x="311956" y="6689783"/>
                  <a:pt x="307622" y="6676448"/>
                  <a:pt x="296953" y="6662541"/>
                </a:cubicBezTo>
                <a:cubicBezTo>
                  <a:pt x="293286" y="6657825"/>
                  <a:pt x="290989" y="6651967"/>
                  <a:pt x="289870" y="6645552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lnTo>
                  <a:pt x="328959" y="6564620"/>
                </a:ln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58" y="6625225"/>
                </a:lnTo>
                <a:cubicBezTo>
                  <a:pt x="287762" y="6639108"/>
                  <a:pt x="289619" y="6653111"/>
                  <a:pt x="296953" y="6662542"/>
                </a:cubicBezTo>
                <a:cubicBezTo>
                  <a:pt x="302288" y="6669496"/>
                  <a:pt x="306038" y="6676306"/>
                  <a:pt x="308405" y="6683027"/>
                </a:cubicBezTo>
                <a:lnTo>
                  <a:pt x="311551" y="6702976"/>
                </a:ln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78237" y="6812064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  <a:noFill/>
          <a:effectLst>
            <a:outerShdw algn="r" blurRad="381000" dir="10800000" dist="152400" rotWithShape="0">
              <a:prstClr val="black">
                <a:alpha val="10000"/>
              </a:prstClr>
            </a:outerShdw>
          </a:effectLst>
        </p:spPr>
      </p:pic>
      <p:grpSp>
        <p:nvGrpSpPr>
          <p:cNvPr id="32" name="Group 3092"/>
          <p:cNvGrpSpPr>
            <a:grpSpLocks noMove="1" noResize="1" noRot="1" noGrp="1" noChangeAspect="1"/>
          </p:cNvGrpSpPr>
          <p:nvPr/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1048611" name="Freeform: Shape 3093"/>
            <p:cNvSpPr/>
            <p:nvPr/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p>
              <a:pPr algn="ctr"/>
              <a:endParaRPr dirty="0" lang="en-US"/>
            </a:p>
          </p:txBody>
        </p:sp>
        <p:sp>
          <p:nvSpPr>
            <p:cNvPr id="1048612" name="Freeform: Shape 3094"/>
            <p:cNvSpPr/>
            <p:nvPr/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rotWithShape="1" dpi="0">
              <a:blip xmlns:r="http://schemas.openxmlformats.org/officeDocument/2006/relationships"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p>
              <a:pPr algn="ctr"/>
              <a:endParaRPr dirty="0"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Rectangle 410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>
              <a:solidFill>
                <a:schemeClr val="tx1"/>
              </a:solidFill>
            </a:endParaRPr>
          </a:p>
        </p:txBody>
      </p:sp>
      <p:sp>
        <p:nvSpPr>
          <p:cNvPr id="1048614" name="Cím 1"/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p>
            <a:r>
              <a:rPr sz="2800" lang="hu-HU">
                <a:solidFill>
                  <a:schemeClr val="bg1"/>
                </a:solidFill>
              </a:rPr>
              <a:t>3. Scenárió – OT/ICS (Ipari Vezérlőrendszerek) Támadása</a:t>
            </a:r>
          </a:p>
        </p:txBody>
      </p:sp>
      <p:cxnSp>
        <p:nvCxnSpPr>
          <p:cNvPr id="3145728" name="Straight Connector 4105"/>
          <p:cNvCxnSpPr>
            <a:cxnSpLocks noChangeAspect="1" noMove="1" noResize="1" noRot="1" noGrp="1" noAdjustHandles="1" noEditPoints="1" noChangeArrowheads="1" noChangeShapeType="1"/>
          </p:cNvCxnSpPr>
          <p:nvPr/>
        </p:nvCxnSpPr>
        <p:spPr>
          <a:xfrm flipH="1">
            <a:off x="1" y="2026340"/>
            <a:ext cx="6095999" cy="0"/>
          </a:xfrm>
          <a:prstGeom prst="line"/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0" y="2288833"/>
            <a:ext cx="4800600" cy="3711571"/>
          </a:xfrm>
          <a:prstGeom prst="rect"/>
        </p:spPr>
        <p:txBody>
          <a:bodyPr anchorCtr="0" bIns="45720" compatLnSpc="1" lIns="91440" numCol="1" rIns="91440" tIns="45720" vert="horz">
            <a:prstTxWarp prst="textNoShape"/>
            <a:normAutofit/>
          </a:bodyPr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Környezet:</a:t>
            </a:r>
            <a:r>
              <a:rPr altLang="hu-HU" baseline="0" b="0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SCADA rendszerek (pl. vízszolgáltató, energetika, gyártósor).</a:t>
            </a: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Specifikus fenyegetés:</a:t>
            </a:r>
            <a:r>
              <a:rPr altLang="hu-HU" baseline="0" b="0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Cyber-Physical támadások (a kiber térből fizikai kár okozása).</a:t>
            </a: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Támadási technika:</a:t>
            </a:r>
            <a:endParaRPr altLang="hu-HU" baseline="0" b="0" cap="none" sz="1600" i="0" kumimoji="0" lang="hu-HU" normalizeH="0" strike="noStrike" u="none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Man-in-the-Middle (MitM):</a:t>
            </a:r>
            <a:r>
              <a:rPr altLang="hu-HU" baseline="0" b="0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Szenzoradatok hamisítása a HMI (Human-Machine Interface) felé.</a:t>
            </a: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PLC manipuláció:</a:t>
            </a:r>
            <a:r>
              <a:rPr altLang="hu-HU" baseline="0" b="0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Vezérlő parancsok felülírása (pl. szelepek kinyitása, fordulatszám növelése).</a:t>
            </a: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Kihívás:</a:t>
            </a:r>
            <a:r>
              <a:rPr altLang="hu-HU" baseline="0" b="0" cap="none" sz="16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Az IT biztonsági eszközök gyakran nem értelmezik az ipari protokollokat (pl. Modbus, DNP3).</a:t>
            </a:r>
          </a:p>
        </p:txBody>
      </p:sp>
      <p:pic>
        <p:nvPicPr>
          <p:cNvPr id="2097156" name="Picture 3" descr="Kép erről: scada system architecture diagram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 bwMode="auto">
          <a:xfrm>
            <a:off x="7186965" y="1718151"/>
            <a:ext cx="4562263" cy="3421697"/>
          </a:xfrm>
          <a:prstGeom prst="rect"/>
          <a:noFill/>
        </p:spPr>
      </p:pic>
      <p:cxnSp>
        <p:nvCxnSpPr>
          <p:cNvPr id="3145729" name="Straight Connector 4107"/>
          <p:cNvCxnSpPr>
            <a:cxnSpLocks noChangeAspect="1" noMove="1" noResize="1" noRot="1" noGrp="1" noAdjustHandles="1" noEditPoints="1" noChangeArrowheads="1" noChangeShapeType="1"/>
          </p:cNvCxnSpPr>
          <p:nvPr/>
        </p:nvCxnSpPr>
        <p:spPr>
          <a:xfrm>
            <a:off x="11829053" y="0"/>
            <a:ext cx="0" cy="6858000"/>
          </a:xfrm>
          <a:prstGeom prst="line"/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Rectangle 512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>
              <a:solidFill>
                <a:schemeClr val="tx1"/>
              </a:solidFill>
            </a:endParaRPr>
          </a:p>
        </p:txBody>
      </p:sp>
      <p:sp>
        <p:nvSpPr>
          <p:cNvPr id="1048617" name="Cím 1"/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 fontScale="93182"/>
          </a:bodyPr>
          <a:p>
            <a:r>
              <a:rPr lang="hu-HU">
                <a:solidFill>
                  <a:schemeClr val="bg1"/>
                </a:solidFill>
              </a:rPr>
              <a:t>Összegzés és Üzleti Megtérülés (ROI)</a:t>
            </a:r>
          </a:p>
        </p:txBody>
      </p:sp>
      <p:cxnSp>
        <p:nvCxnSpPr>
          <p:cNvPr id="3145730" name="Straight Connector 5129"/>
          <p:cNvCxnSpPr>
            <a:cxnSpLocks noChangeAspect="1" noMove="1" noResize="1" noRot="1" noGrp="1" noAdjustHandles="1" noEditPoints="1" noChangeArrowheads="1" noChangeShapeType="1"/>
          </p:cNvCxnSpPr>
          <p:nvPr/>
        </p:nvCxnSpPr>
        <p:spPr>
          <a:xfrm flipH="1">
            <a:off x="1" y="2026340"/>
            <a:ext cx="6095999" cy="0"/>
          </a:xfrm>
          <a:prstGeom prst="line"/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0" y="2288833"/>
            <a:ext cx="4800600" cy="3711571"/>
          </a:xfrm>
          <a:prstGeom prst="rect"/>
        </p:spPr>
        <p:txBody>
          <a:bodyPr anchorCtr="0" bIns="45720" compatLnSpc="1" lIns="91440" numCol="1" rIns="91440" tIns="45720" vert="horz">
            <a:prstTxWarp prst="textNoShape"/>
            <a:normAutofit/>
          </a:bodyPr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Mit fejleszt a </a:t>
            </a:r>
            <a:r>
              <a:rPr altLang="hu-HU" baseline="0" b="1" cap="none" dirty="0" sz="1700" i="0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Cyber</a:t>
            </a:r>
            <a:r>
              <a:rPr altLang="hu-HU" baseline="0" b="1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1" cap="none" dirty="0" sz="1700" i="0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Range</a:t>
            </a:r>
            <a:r>
              <a:rPr altLang="hu-HU" baseline="0" b="1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?</a:t>
            </a:r>
            <a:endParaRPr altLang="hu-HU" baseline="0" b="0" cap="none" dirty="0" sz="1700" i="0" kumimoji="0" lang="hu-HU" normalizeH="0" strike="noStrike" u="none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Technikai készségek:</a:t>
            </a:r>
            <a:r>
              <a:rPr altLang="hu-HU" baseline="0" b="0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Valós </a:t>
            </a:r>
            <a:r>
              <a:rPr altLang="hu-HU" baseline="0" b="0" cap="none" dirty="0" sz="1700" i="0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malware</a:t>
            </a:r>
            <a:r>
              <a:rPr altLang="hu-HU" baseline="0" b="0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-ek viselkedésének ismerete.</a:t>
            </a: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700" i="0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Soft</a:t>
            </a:r>
            <a:r>
              <a:rPr altLang="hu-HU" baseline="0" b="1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1" cap="none" dirty="0" sz="1700" i="0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Skills</a:t>
            </a:r>
            <a:r>
              <a:rPr altLang="hu-HU" baseline="0" b="1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altLang="hu-HU" baseline="0" b="0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Csapatkommunikáció krízishelyzetben, stresszkezelés.</a:t>
            </a: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Folyamat-validáció:</a:t>
            </a:r>
            <a:r>
              <a:rPr altLang="hu-HU" baseline="0" b="0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Az Incidenskezelési Terv (</a:t>
            </a:r>
            <a:r>
              <a:rPr altLang="hu-HU" baseline="0" b="0" cap="none" dirty="0" sz="1700" i="0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Incident</a:t>
            </a:r>
            <a:r>
              <a:rPr altLang="hu-HU" baseline="0" b="0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0" cap="none" dirty="0" sz="1700" i="0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Response</a:t>
            </a:r>
            <a:r>
              <a:rPr altLang="hu-HU" baseline="0" b="0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0" cap="none" dirty="0" sz="1700" i="0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Plan</a:t>
            </a:r>
            <a:r>
              <a:rPr altLang="hu-HU" baseline="0" b="0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- IRP) tesztelése a valóságban.</a:t>
            </a: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1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Konklúzió:</a:t>
            </a:r>
            <a:endParaRPr altLang="hu-HU" baseline="0" b="0" cap="none" dirty="0" sz="1700" i="0" kumimoji="0" lang="hu-HU" normalizeH="0" strike="noStrike" u="none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0" cap="none" dirty="0" sz="1700" i="1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</a:t>
            </a:r>
            <a:r>
              <a:rPr altLang="hu-HU" baseline="0" b="0" cap="none" dirty="0" sz="1700" i="1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Train</a:t>
            </a:r>
            <a:r>
              <a:rPr altLang="hu-HU" baseline="0" b="0" cap="none" dirty="0" sz="1700" i="1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0" cap="none" dirty="0" sz="1700" i="1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</a:t>
            </a:r>
            <a:r>
              <a:rPr altLang="hu-HU" baseline="0" b="0" cap="none" dirty="0" sz="1700" i="1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0" cap="none" dirty="0" sz="1700" i="1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you</a:t>
            </a:r>
            <a:r>
              <a:rPr altLang="hu-HU" baseline="0" b="0" cap="none" dirty="0" sz="1700" i="1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hu-HU" baseline="0" b="0" cap="none" dirty="0" sz="1700" i="1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fight</a:t>
            </a:r>
            <a:r>
              <a:rPr altLang="hu-HU" baseline="0" b="0" cap="none" dirty="0" sz="1700" i="1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</a:t>
            </a:r>
            <a:r>
              <a:rPr altLang="hu-HU" baseline="0" b="0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elv érvényesítése.</a:t>
            </a: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altLang="hu-HU" baseline="0" b="0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felkészült </a:t>
            </a:r>
            <a:r>
              <a:rPr altLang="hu-HU" baseline="0" b="0" cap="none" dirty="0" sz="1700" i="0" kumimoji="0" lang="hu-HU" normalizeH="0" err="1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Blue</a:t>
            </a:r>
            <a:r>
              <a:rPr altLang="hu-HU" baseline="0" b="0" cap="none" dirty="0" sz="1700" i="0" kumimoji="0" lang="hu-HU" normalizeH="0" strike="noStrike" u="none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Team csökkenti a valós incidensek detektálási idejét (MTTD) és költségeit.</a:t>
            </a:r>
          </a:p>
          <a:p>
            <a:pPr defTabSz="914400" eaLnBrk="0" fontAlgn="base" hangingPunct="0" indent="0" latinLnBrk="0" lvl="0" marL="0" marR="0" rtl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altLang="hu-HU" baseline="0" b="0" cap="none" dirty="0" sz="1700" i="0" kumimoji="0" lang="hu-HU" normalizeH="0" strike="noStrike" u="none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97157" name="Picture 3" descr="8 Must-know Types of Cyber Security Training in 2025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 bwMode="auto">
          <a:xfrm>
            <a:off x="6903844" y="2425302"/>
            <a:ext cx="4562263" cy="2007395"/>
          </a:xfrm>
          <a:prstGeom prst="rect"/>
          <a:noFill/>
        </p:spPr>
      </p:pic>
      <p:cxnSp>
        <p:nvCxnSpPr>
          <p:cNvPr id="3145731" name="Straight Connector 5131"/>
          <p:cNvCxnSpPr>
            <a:cxnSpLocks noChangeAspect="1" noMove="1" noResize="1" noRot="1" noGrp="1" noAdjustHandles="1" noEditPoints="1" noChangeArrowheads="1" noChangeShapeType="1"/>
          </p:cNvCxnSpPr>
          <p:nvPr/>
        </p:nvCxnSpPr>
        <p:spPr>
          <a:xfrm>
            <a:off x="11829053" y="0"/>
            <a:ext cx="0" cy="6858000"/>
          </a:xfrm>
          <a:prstGeom prst="line"/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Rectangle 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20" name="Oval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142784" y="253140"/>
            <a:ext cx="6184555" cy="6184555"/>
          </a:xfrm>
          <a:prstGeom prst="ellipse"/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21" name="Oval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124848" y="253140"/>
            <a:ext cx="6184555" cy="6184555"/>
          </a:xfrm>
          <a:prstGeom prst="ellipse"/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>
              <a:solidFill>
                <a:schemeClr val="accent3"/>
              </a:solidFill>
            </a:endParaRPr>
          </a:p>
        </p:txBody>
      </p:sp>
      <p:sp>
        <p:nvSpPr>
          <p:cNvPr id="1048622" name="Oval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003723" y="136525"/>
            <a:ext cx="6184555" cy="6184555"/>
          </a:xfrm>
          <a:prstGeom prst="ellipse"/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23" name="Cím 1"/>
          <p:cNvSpPr>
            <a:spLocks noGrp="1"/>
          </p:cNvSpPr>
          <p:nvPr>
            <p:ph type="title"/>
          </p:nvPr>
        </p:nvSpPr>
        <p:spPr>
          <a:xfrm>
            <a:off x="3554318" y="2472424"/>
            <a:ext cx="5204489" cy="3160593"/>
          </a:xfrm>
        </p:spPr>
        <p:txBody>
          <a:bodyPr anchor="b" bIns="45720" lIns="91440" rIns="91440" rtlCol="0" tIns="45720" vert="horz">
            <a:normAutofit fontScale="90000"/>
          </a:bodyPr>
          <a:p>
            <a:pPr algn="ctr"/>
            <a:r>
              <a:rPr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Köszönjük a figyelmet!</a:t>
            </a:r>
            <a:b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Percze 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Dániel</a:t>
            </a:r>
            <a:b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L</a:t>
            </a:r>
            <a:r>
              <a:rPr altLang="hu-HU" sz="4000" kern="1200" lang="hu-HU">
                <a:solidFill>
                  <a:schemeClr val="bg1"/>
                </a:solidFill>
                <a:latin typeface="+mj-lt"/>
                <a:ea typeface="+mj-ea"/>
                <a:cs typeface="+mj-cs"/>
              </a:rPr>
              <a:t>ő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r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n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c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z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Z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s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o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l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t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B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e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ndegúz </a:t>
            </a:r>
            <a:b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K</a:t>
            </a:r>
            <a:r>
              <a:rPr altLang="hu-HU" sz="4000" kern="1200" lang="hu-HU">
                <a:solidFill>
                  <a:schemeClr val="bg1"/>
                </a:solidFill>
                <a:latin typeface="+mj-lt"/>
                <a:ea typeface="+mj-ea"/>
                <a:cs typeface="+mj-cs"/>
              </a:rPr>
              <a:t>á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z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m</a:t>
            </a:r>
            <a:r>
              <a:rPr altLang="hu-HU" sz="4000" kern="1200" lang="hu-HU">
                <a:solidFill>
                  <a:schemeClr val="bg1"/>
                </a:solidFill>
                <a:latin typeface="+mj-lt"/>
                <a:ea typeface="+mj-ea"/>
                <a:cs typeface="+mj-cs"/>
              </a:rPr>
              <a:t>é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r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B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e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n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c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e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B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a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r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n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a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b</a:t>
            </a:r>
            <a:r>
              <a:rPr altLang="hu-HU" sz="4000" kern="1200" lang="hu-HU">
                <a:solidFill>
                  <a:schemeClr val="bg1"/>
                </a:solidFill>
                <a:latin typeface="+mj-lt"/>
                <a:ea typeface="+mj-ea"/>
                <a:cs typeface="+mj-cs"/>
              </a:rPr>
              <a:t>ás</a:t>
            </a:r>
            <a:b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S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z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l</a:t>
            </a:r>
            <a:r>
              <a:rPr altLang="hu-HU" sz="4000" kern="1200" lang="hu-HU">
                <a:solidFill>
                  <a:schemeClr val="bg1"/>
                </a:solidFill>
                <a:latin typeface="+mj-lt"/>
                <a:ea typeface="+mj-ea"/>
                <a:cs typeface="+mj-cs"/>
              </a:rPr>
              <a:t>ágyi 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Bálint </a:t>
            </a:r>
            <a:b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B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e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r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t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a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altLang="hu-HU" sz="4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Bettina </a:t>
            </a:r>
            <a:endParaRPr altLang="en-US" lang="zh-CN"/>
          </a:p>
        </p:txBody>
      </p:sp>
      <p:sp>
        <p:nvSpPr>
          <p:cNvPr id="1048624" name="Graphic 2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>
              <a:solidFill>
                <a:schemeClr val="lt1"/>
              </a:solidFill>
            </a:endParaRPr>
          </a:p>
        </p:txBody>
      </p:sp>
      <p:sp>
        <p:nvSpPr>
          <p:cNvPr id="1048625" name="Graphic 2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>
              <a:solidFill>
                <a:schemeClr val="lt1"/>
              </a:solidFill>
            </a:endParaRPr>
          </a:p>
        </p:txBody>
      </p:sp>
      <p:grpSp>
        <p:nvGrpSpPr>
          <p:cNvPr id="36" name="Graphic 190"/>
          <p:cNvGrpSpPr>
            <a:grpSpLocks noMove="1" noResize="1" noRot="1" noGrp="1" noChangeAspect="1"/>
          </p:cNvGrpSpPr>
          <p:nvPr/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048626" name="Freeform: Shape 20"/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27" name="Freeform: Shape 21"/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</p:grpSp>
      <p:sp>
        <p:nvSpPr>
          <p:cNvPr id="1048628" name="Oval 2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719820" y="4236107"/>
            <a:ext cx="510988" cy="510988"/>
          </a:xfrm>
          <a:prstGeom prst="ellipse"/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/>
          </a:p>
        </p:txBody>
      </p:sp>
      <p:sp>
        <p:nvSpPr>
          <p:cNvPr id="1048629" name="Oval 2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719820" y="4236107"/>
            <a:ext cx="510988" cy="510988"/>
          </a:xfrm>
          <a:prstGeom prst="ellipse"/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/>
          </a:p>
        </p:txBody>
      </p:sp>
      <p:grpSp>
        <p:nvGrpSpPr>
          <p:cNvPr id="37" name="Graphic 4"/>
          <p:cNvGrpSpPr>
            <a:grpSpLocks noMove="1" noResize="1" noRot="1" noGrp="1" noChangeAspect="1"/>
          </p:cNvGrpSpPr>
          <p:nvPr/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1048630" name="Freeform: Shape 28"/>
            <p:cNvSpPr/>
            <p:nvPr/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31" name="Freeform: Shape 29"/>
            <p:cNvSpPr/>
            <p:nvPr/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32" name="Freeform: Shape 30"/>
            <p:cNvSpPr/>
            <p:nvPr/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33" name="Freeform: Shape 31"/>
            <p:cNvSpPr/>
            <p:nvPr/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34" name="Freeform: Shape 32"/>
            <p:cNvSpPr/>
            <p:nvPr/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35" name="Freeform: Shape 33"/>
            <p:cNvSpPr/>
            <p:nvPr/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36" name="Freeform: Shape 34"/>
            <p:cNvSpPr/>
            <p:nvPr/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37" name="Freeform: Shape 35"/>
            <p:cNvSpPr/>
            <p:nvPr/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38" name="Freeform: Shape 36"/>
            <p:cNvSpPr/>
            <p:nvPr/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39" name="Freeform: Shape 37"/>
            <p:cNvSpPr/>
            <p:nvPr/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40" name="Freeform: Shape 38"/>
            <p:cNvSpPr/>
            <p:nvPr/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41" name="Freeform: Shape 39"/>
            <p:cNvSpPr/>
            <p:nvPr/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42" name="Freeform: Shape 40"/>
            <p:cNvSpPr/>
            <p:nvPr/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43" name="Freeform: Shape 41"/>
            <p:cNvSpPr/>
            <p:nvPr/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44" name="Freeform: Shape 42"/>
            <p:cNvSpPr/>
            <p:nvPr/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45" name="Freeform: Shape 43"/>
            <p:cNvSpPr/>
            <p:nvPr/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46" name="Freeform: Shape 44"/>
            <p:cNvSpPr/>
            <p:nvPr/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47" name="Freeform: Shape 45"/>
            <p:cNvSpPr/>
            <p:nvPr/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48" name="Freeform: Shape 46"/>
            <p:cNvSpPr/>
            <p:nvPr/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49" name="Freeform: Shape 47"/>
            <p:cNvSpPr/>
            <p:nvPr/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50" name="Freeform: Shape 48"/>
            <p:cNvSpPr/>
            <p:nvPr/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51" name="Freeform: Shape 49"/>
            <p:cNvSpPr/>
            <p:nvPr/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52" name="Freeform: Shape 50"/>
            <p:cNvSpPr/>
            <p:nvPr/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53" name="Freeform: Shape 51"/>
            <p:cNvSpPr/>
            <p:nvPr/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54" name="Freeform: Shape 52"/>
            <p:cNvSpPr/>
            <p:nvPr/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55" name="Freeform: Shape 53"/>
            <p:cNvSpPr/>
            <p:nvPr/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56" name="Freeform: Shape 54"/>
            <p:cNvSpPr/>
            <p:nvPr/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57" name="Freeform: Shape 55"/>
            <p:cNvSpPr/>
            <p:nvPr/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58" name="Freeform: Shape 56"/>
            <p:cNvSpPr/>
            <p:nvPr/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59" name="Freeform: Shape 57"/>
            <p:cNvSpPr/>
            <p:nvPr/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60" name="Freeform: Shape 58"/>
            <p:cNvSpPr/>
            <p:nvPr/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61" name="Freeform: Shape 59"/>
            <p:cNvSpPr/>
            <p:nvPr/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62" name="Freeform: Shape 60"/>
            <p:cNvSpPr/>
            <p:nvPr/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63" name="Freeform: Shape 61"/>
            <p:cNvSpPr/>
            <p:nvPr/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64" name="Freeform: Shape 62"/>
            <p:cNvSpPr/>
            <p:nvPr/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65" name="Freeform: Shape 63"/>
            <p:cNvSpPr/>
            <p:nvPr/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66" name="Freeform: Shape 64"/>
            <p:cNvSpPr/>
            <p:nvPr/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67" name="Freeform: Shape 65"/>
            <p:cNvSpPr/>
            <p:nvPr/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68" name="Freeform: Shape 66"/>
            <p:cNvSpPr/>
            <p:nvPr/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69" name="Freeform: Shape 67"/>
            <p:cNvSpPr/>
            <p:nvPr/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70" name="Freeform: Shape 68"/>
            <p:cNvSpPr/>
            <p:nvPr/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71" name="Freeform: Shape 69"/>
            <p:cNvSpPr/>
            <p:nvPr/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72" name="Freeform: Shape 70"/>
            <p:cNvSpPr/>
            <p:nvPr/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73" name="Freeform: Shape 71"/>
            <p:cNvSpPr/>
            <p:nvPr/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74" name="Freeform: Shape 72"/>
            <p:cNvSpPr/>
            <p:nvPr/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75" name="Freeform: Shape 73"/>
            <p:cNvSpPr/>
            <p:nvPr/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76" name="Freeform: Shape 74"/>
            <p:cNvSpPr/>
            <p:nvPr/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77" name="Freeform: Shape 75"/>
            <p:cNvSpPr/>
            <p:nvPr/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78" name="Freeform: Shape 76"/>
            <p:cNvSpPr/>
            <p:nvPr/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79" name="Freeform: Shape 77"/>
            <p:cNvSpPr/>
            <p:nvPr/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80" name="Freeform: Shape 78"/>
            <p:cNvSpPr/>
            <p:nvPr/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81" name="Freeform: Shape 79"/>
            <p:cNvSpPr/>
            <p:nvPr/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82" name="Freeform: Shape 80"/>
            <p:cNvSpPr/>
            <p:nvPr/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83" name="Freeform: Shape 81"/>
            <p:cNvSpPr/>
            <p:nvPr/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84" name="Freeform: Shape 82"/>
            <p:cNvSpPr/>
            <p:nvPr/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85" name="Freeform: Shape 83"/>
            <p:cNvSpPr/>
            <p:nvPr/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86" name="Freeform: Shape 84"/>
            <p:cNvSpPr/>
            <p:nvPr/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87" name="Freeform: Shape 85"/>
            <p:cNvSpPr/>
            <p:nvPr/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88" name="Freeform: Shape 86"/>
            <p:cNvSpPr/>
            <p:nvPr/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89" name="Freeform: Shape 87"/>
            <p:cNvSpPr/>
            <p:nvPr/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90" name="Freeform: Shape 88"/>
            <p:cNvSpPr/>
            <p:nvPr/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91" name="Freeform: Shape 89"/>
            <p:cNvSpPr/>
            <p:nvPr/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92" name="Freeform: Shape 90"/>
            <p:cNvSpPr/>
            <p:nvPr/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93" name="Freeform: Shape 91"/>
            <p:cNvSpPr/>
            <p:nvPr/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94" name="Freeform: Shape 92"/>
            <p:cNvSpPr/>
            <p:nvPr/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95" name="Freeform: Shape 93"/>
            <p:cNvSpPr/>
            <p:nvPr/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96" name="Freeform: Shape 94"/>
            <p:cNvSpPr/>
            <p:nvPr/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97" name="Freeform: Shape 95"/>
            <p:cNvSpPr/>
            <p:nvPr/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98" name="Freeform: Shape 96"/>
            <p:cNvSpPr/>
            <p:nvPr/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699" name="Freeform: Shape 97"/>
            <p:cNvSpPr/>
            <p:nvPr/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00" name="Freeform: Shape 98"/>
            <p:cNvSpPr/>
            <p:nvPr/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01" name="Freeform: Shape 99"/>
            <p:cNvSpPr/>
            <p:nvPr/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02" name="Freeform: Shape 100"/>
            <p:cNvSpPr/>
            <p:nvPr/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03" name="Freeform: Shape 101"/>
            <p:cNvSpPr/>
            <p:nvPr/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04" name="Freeform: Shape 102"/>
            <p:cNvSpPr/>
            <p:nvPr/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05" name="Freeform: Shape 103"/>
            <p:cNvSpPr/>
            <p:nvPr/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06" name="Freeform: Shape 104"/>
            <p:cNvSpPr/>
            <p:nvPr/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07" name="Freeform: Shape 105"/>
            <p:cNvSpPr/>
            <p:nvPr/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08" name="Freeform: Shape 106"/>
            <p:cNvSpPr/>
            <p:nvPr/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09" name="Freeform: Shape 107"/>
            <p:cNvSpPr/>
            <p:nvPr/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10" name="Freeform: Shape 108"/>
            <p:cNvSpPr/>
            <p:nvPr/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11" name="Freeform: Shape 109"/>
            <p:cNvSpPr/>
            <p:nvPr/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12" name="Freeform: Shape 110"/>
            <p:cNvSpPr/>
            <p:nvPr/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13" name="Freeform: Shape 111"/>
            <p:cNvSpPr/>
            <p:nvPr/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14" name="Freeform: Shape 112"/>
            <p:cNvSpPr/>
            <p:nvPr/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15" name="Freeform: Shape 113"/>
            <p:cNvSpPr/>
            <p:nvPr/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16" name="Freeform: Shape 114"/>
            <p:cNvSpPr/>
            <p:nvPr/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17" name="Freeform: Shape 115"/>
            <p:cNvSpPr/>
            <p:nvPr/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18" name="Freeform: Shape 116"/>
            <p:cNvSpPr/>
            <p:nvPr/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19" name="Freeform: Shape 117"/>
            <p:cNvSpPr/>
            <p:nvPr/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20" name="Freeform: Shape 118"/>
            <p:cNvSpPr/>
            <p:nvPr/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21" name="Freeform: Shape 119"/>
            <p:cNvSpPr/>
            <p:nvPr/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22" name="Freeform: Shape 120"/>
            <p:cNvSpPr/>
            <p:nvPr/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23" name="Freeform: Shape 121"/>
            <p:cNvSpPr/>
            <p:nvPr/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24" name="Freeform: Shape 122"/>
            <p:cNvSpPr/>
            <p:nvPr/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25" name="Freeform: Shape 123"/>
            <p:cNvSpPr/>
            <p:nvPr/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26" name="Freeform: Shape 124"/>
            <p:cNvSpPr/>
            <p:nvPr/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27" name="Freeform: Shape 125"/>
            <p:cNvSpPr/>
            <p:nvPr/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28" name="Freeform: Shape 126"/>
            <p:cNvSpPr/>
            <p:nvPr/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29" name="Freeform: Shape 127"/>
            <p:cNvSpPr/>
            <p:nvPr/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30" name="Freeform: Shape 128"/>
            <p:cNvSpPr/>
            <p:nvPr/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31" name="Freeform: Shape 129"/>
            <p:cNvSpPr/>
            <p:nvPr/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32" name="Freeform: Shape 130"/>
            <p:cNvSpPr/>
            <p:nvPr/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33" name="Freeform: Shape 131"/>
            <p:cNvSpPr/>
            <p:nvPr/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34" name="Freeform: Shape 132"/>
            <p:cNvSpPr/>
            <p:nvPr/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35" name="Freeform: Shape 133"/>
            <p:cNvSpPr/>
            <p:nvPr/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36" name="Freeform: Shape 134"/>
            <p:cNvSpPr/>
            <p:nvPr/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37" name="Freeform: Shape 135"/>
            <p:cNvSpPr/>
            <p:nvPr/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38" name="Freeform: Shape 136"/>
            <p:cNvSpPr/>
            <p:nvPr/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39" name="Freeform: Shape 137"/>
            <p:cNvSpPr/>
            <p:nvPr/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40" name="Freeform: Shape 138"/>
            <p:cNvSpPr/>
            <p:nvPr/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41" name="Freeform: Shape 139"/>
            <p:cNvSpPr/>
            <p:nvPr/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42" name="Freeform: Shape 140"/>
            <p:cNvSpPr/>
            <p:nvPr/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43" name="Freeform: Shape 141"/>
            <p:cNvSpPr/>
            <p:nvPr/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44" name="Freeform: Shape 142"/>
            <p:cNvSpPr/>
            <p:nvPr/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45" name="Freeform: Shape 143"/>
            <p:cNvSpPr/>
            <p:nvPr/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46" name="Freeform: Shape 144"/>
            <p:cNvSpPr/>
            <p:nvPr/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47" name="Freeform: Shape 145"/>
            <p:cNvSpPr/>
            <p:nvPr/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48" name="Freeform: Shape 146"/>
            <p:cNvSpPr/>
            <p:nvPr/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49" name="Freeform: Shape 147"/>
            <p:cNvSpPr/>
            <p:nvPr/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50" name="Freeform: Shape 148"/>
            <p:cNvSpPr/>
            <p:nvPr/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51" name="Freeform: Shape 149"/>
            <p:cNvSpPr/>
            <p:nvPr/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52" name="Freeform: Shape 150"/>
            <p:cNvSpPr/>
            <p:nvPr/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53" name="Freeform: Shape 151"/>
            <p:cNvSpPr/>
            <p:nvPr/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54" name="Freeform: Shape 152"/>
            <p:cNvSpPr/>
            <p:nvPr/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55" name="Freeform: Shape 153"/>
            <p:cNvSpPr/>
            <p:nvPr/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56" name="Freeform: Shape 154"/>
            <p:cNvSpPr/>
            <p:nvPr/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57" name="Freeform: Shape 155"/>
            <p:cNvSpPr/>
            <p:nvPr/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58" name="Freeform: Shape 156"/>
            <p:cNvSpPr/>
            <p:nvPr/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59" name="Freeform: Shape 157"/>
            <p:cNvSpPr/>
            <p:nvPr/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60" name="Freeform: Shape 158"/>
            <p:cNvSpPr/>
            <p:nvPr/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61" name="Freeform: Shape 159"/>
            <p:cNvSpPr/>
            <p:nvPr/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62" name="Freeform: Shape 160"/>
            <p:cNvSpPr/>
            <p:nvPr/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63" name="Freeform: Shape 161"/>
            <p:cNvSpPr/>
            <p:nvPr/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64" name="Freeform: Shape 162"/>
            <p:cNvSpPr/>
            <p:nvPr/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65" name="Freeform: Shape 163"/>
            <p:cNvSpPr/>
            <p:nvPr/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66" name="Freeform: Shape 164"/>
            <p:cNvSpPr/>
            <p:nvPr/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67" name="Freeform: Shape 165"/>
            <p:cNvSpPr/>
            <p:nvPr/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68" name="Freeform: Shape 166"/>
            <p:cNvSpPr/>
            <p:nvPr/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69" name="Freeform: Shape 167"/>
            <p:cNvSpPr/>
            <p:nvPr/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70" name="Freeform: Shape 168"/>
            <p:cNvSpPr/>
            <p:nvPr/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71" name="Freeform: Shape 169"/>
            <p:cNvSpPr/>
            <p:nvPr/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72" name="Freeform: Shape 170"/>
            <p:cNvSpPr/>
            <p:nvPr/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73" name="Freeform: Shape 171"/>
            <p:cNvSpPr/>
            <p:nvPr/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74" name="Freeform: Shape 172"/>
            <p:cNvSpPr/>
            <p:nvPr/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75" name="Freeform: Shape 173"/>
            <p:cNvSpPr/>
            <p:nvPr/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76" name="Freeform: Shape 174"/>
            <p:cNvSpPr/>
            <p:nvPr/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77" name="Freeform: Shape 175"/>
            <p:cNvSpPr/>
            <p:nvPr/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78" name="Freeform: Shape 176"/>
            <p:cNvSpPr/>
            <p:nvPr/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79" name="Freeform: Shape 177"/>
            <p:cNvSpPr/>
            <p:nvPr/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80" name="Freeform: Shape 178"/>
            <p:cNvSpPr/>
            <p:nvPr/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81" name="Freeform: Shape 179"/>
            <p:cNvSpPr/>
            <p:nvPr/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82" name="Freeform: Shape 180"/>
            <p:cNvSpPr/>
            <p:nvPr/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83" name="Freeform: Shape 181"/>
            <p:cNvSpPr/>
            <p:nvPr/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84" name="Freeform: Shape 182"/>
            <p:cNvSpPr/>
            <p:nvPr/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85" name="Freeform: Shape 183"/>
            <p:cNvSpPr/>
            <p:nvPr/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86" name="Freeform: Shape 184"/>
            <p:cNvSpPr/>
            <p:nvPr/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87" name="Freeform: Shape 185"/>
            <p:cNvSpPr/>
            <p:nvPr/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88" name="Freeform: Shape 186"/>
            <p:cNvSpPr/>
            <p:nvPr/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89" name="Freeform: Shape 187"/>
            <p:cNvSpPr/>
            <p:nvPr/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90" name="Freeform: Shape 188"/>
            <p:cNvSpPr/>
            <p:nvPr/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91" name="Freeform: Shape 189"/>
            <p:cNvSpPr/>
            <p:nvPr/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92" name="Freeform: Shape 190"/>
            <p:cNvSpPr/>
            <p:nvPr/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93" name="Freeform: Shape 191"/>
            <p:cNvSpPr/>
            <p:nvPr/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94" name="Freeform: Shape 192"/>
            <p:cNvSpPr/>
            <p:nvPr/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95" name="Freeform: Shape 193"/>
            <p:cNvSpPr/>
            <p:nvPr/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96" name="Freeform: Shape 194"/>
            <p:cNvSpPr/>
            <p:nvPr/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97" name="Freeform: Shape 195"/>
            <p:cNvSpPr/>
            <p:nvPr/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  <p:sp>
          <p:nvSpPr>
            <p:cNvPr id="1048798" name="Freeform: Shape 196"/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dirty="0"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Percze Dániel</dc:creator>
  <cp:lastModifiedBy>Percze Daniel</cp:lastModifiedBy>
  <dcterms:created xsi:type="dcterms:W3CDTF">2025-12-07T07:43:26Z</dcterms:created>
  <dcterms:modified xsi:type="dcterms:W3CDTF">2025-12-09T13:00:28Z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677fe3b38a2b4763b7364b7664074f64</vt:lpwstr>
  </property>
</Properties>
</file>